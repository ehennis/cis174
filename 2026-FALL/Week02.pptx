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72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80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1" r:id="rId21"/>
    <p:sldId id="289" r:id="rId22"/>
    <p:sldId id="29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7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C3E42-4EF5-4D37-95E7-7E4309A20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F0352-053B-4253-BF80-D4FE2478C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416A6-7DCE-4678-8780-C87805743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DC0FD-8453-4C3A-ADD2-6FCA74CE6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85D638-3888-4039-9B55-874A870EB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607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80703-F8DC-4B77-A803-575322F2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B1BBC-87C2-45E3-9159-FA4084BAC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2C84E-F0A4-4562-B3A5-92541BA40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9EDE5-AA0A-46D2-BC0E-BCCE338C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0C09F-EC99-444E-8541-03E9E164F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701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48825-B69E-4B02-81E7-0D8ECF954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0B41D-1A72-48F8-B2F2-102EBF3DE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5DD65-1386-417C-822B-C58708C76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C6CCC-0DBE-4B85-AA95-27B23C998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774F0-DF0F-46E0-9492-C7CDE9B0C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29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AABFA-4DE4-4959-B255-7A10E8704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423D7-01A8-4FFC-8DC5-E296027B6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174455-ED4D-42F2-ADC5-D92FBF958F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D0067-A33A-4E33-9A1B-873EFCF32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94831-6571-4455-A53A-9225EF00D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E4873-E4F5-4691-91FE-1FAC44357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29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CBEB-1A3B-4C88-A717-A12179B06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25FAA-5F9D-496D-9D87-AF92A1B50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4F8E69-13CE-442B-8759-346302D6F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9E14D7-F795-424A-9F63-CEB7B3F50D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6F4F0D-7E89-430A-BA51-7452B4ACAF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4C5087-C1F7-4FC5-8393-C3966A70E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394D3-2D49-498D-BE07-409A3AA9B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5372BC-F7A8-4FDB-81ED-57A54F4B8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47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BE06C-4082-408E-A9CB-E2FFC9314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71482-3D35-4343-A6B8-9EA8B367E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BA6BC9-1D26-4092-A371-2BF7D0307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7E474-2946-41F1-BF6E-008824DF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82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B67A7D-E709-494E-88BA-2EF2969C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7F2460-1B36-4305-8C27-D512CD031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C3687-B6C2-46DB-A3D1-7ECE48AC8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01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A2A73-941F-45EF-B5B4-75361D02C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580B9-D2C8-43A7-A1B0-1D6A30E59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1A9B1-7A5D-4E6E-8756-2F18D813D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E2E7B-25AE-4F36-A75C-D80D8396F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FC000-A10E-4832-A5DB-756158C0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1A89-C300-4A54-8BFC-76CA5EA41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97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475AA-44E7-45E8-99B4-625C8E45C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96D0B7-0D53-4847-A3A0-DFE1437507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868FB-9AAE-460F-9481-5359E8E68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E4B48-52B8-44F1-89E9-0DE2C461E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4D06E-9FD4-467E-9DDA-358532F9E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35F63-CBC4-4033-A854-9DB17BE08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97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6D68A-EF43-4108-836E-806FC1C7E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27F48-8295-4319-AD08-FE6394394F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BC3EC-2999-4A0F-B4C9-412754D60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4AEFE-DB93-4656-9770-57221FF4A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27005-B9E3-4974-A0C1-AE3D48ED9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80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76AD26-394C-4302-8905-520EAF8E5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F1E4D-DC22-4C3D-9702-F023BCA65F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87865-FB23-4B7A-9693-6689A4145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BCADA-FB37-446B-A7D4-82D1D24EF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5565A-5664-48CF-9916-C8E504E4B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817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5799BB-A9ED-4DB1-9A4C-77FDDB2C6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986DC-A5F0-4FA3-9D02-6919DF7C2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B483C-41D2-44C7-A64C-5007E97AEF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1919C7-6BC3-4736-AC32-A62C7B81C82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A7A1D-85A9-4A85-9F54-45E2A223CD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3C754-19DF-46C1-A0CC-714F1D906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03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ronis.com/en-us/articles/what-is-microsoft-azure/" TargetMode="External"/><Relationship Id="rId2" Type="http://schemas.openxmlformats.org/officeDocument/2006/relationships/hyperlink" Target="https://azure.microsoft.com/en-us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ortal.azure.com/" TargetMode="External"/><Relationship Id="rId4" Type="http://schemas.openxmlformats.org/officeDocument/2006/relationships/hyperlink" Target="https://www.howtogeek.com/337961/what-is-microsoft-azure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azure.microsoft.com/en-us/free/students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175CA-E47D-449E-BBEF-2D6A95B2F9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CIS 174: Advanced C#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F146A0-36B2-4A84-AA05-654107433E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Week 2: 2026-09-03 to 09-09</a:t>
            </a:r>
          </a:p>
          <a:p>
            <a:r>
              <a:rPr lang="en-US" dirty="0"/>
              <a:t>Chapters 3 &amp; 4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18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5572F-ED20-41CA-BD5D-2D4EA6B6C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(Module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3100-37B3-4FCD-B920-41EA836EA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Verify Azure Setup (Topic 1)</a:t>
            </a:r>
          </a:p>
          <a:p>
            <a:r>
              <a:rPr lang="en-US" dirty="0"/>
              <a:t>EF Core Web App Lab (Topic 2)</a:t>
            </a:r>
          </a:p>
          <a:p>
            <a:r>
              <a:rPr lang="en-US" dirty="0"/>
              <a:t>Murach Chapter 4 Quiz (Topic 3)</a:t>
            </a:r>
          </a:p>
          <a:p>
            <a:r>
              <a:rPr lang="en-US" dirty="0"/>
              <a:t>Multipage WebApp w/ DB (Topic 3)</a:t>
            </a:r>
          </a:p>
          <a:p>
            <a:r>
              <a:rPr lang="en-US" dirty="0"/>
              <a:t>Final Project Brainstorming (Topic 4)</a:t>
            </a:r>
          </a:p>
        </p:txBody>
      </p:sp>
    </p:spTree>
    <p:extLst>
      <p:ext uri="{BB962C8B-B14F-4D97-AF65-F5344CB8AC3E}">
        <p14:creationId xmlns:p14="http://schemas.microsoft.com/office/powerpoint/2010/main" val="2989554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8EE5E-400C-4423-9F57-6FA11E70B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(Module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5CA4-AF98-40E1-BC80-A98814E55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Set Up Azure</a:t>
            </a:r>
          </a:p>
          <a:p>
            <a:r>
              <a:rPr lang="en-US" dirty="0"/>
              <a:t>Database Connectivity</a:t>
            </a:r>
          </a:p>
          <a:p>
            <a:r>
              <a:rPr lang="en-US" dirty="0"/>
              <a:t>Multi-page Web App</a:t>
            </a:r>
          </a:p>
          <a:p>
            <a:r>
              <a:rPr lang="en-US" dirty="0"/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1397827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D5486-A245-4AAE-A2A0-A85ED0F57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Azure (Mod 2 Topic 1)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DDF1E-7949-4AF8-9F3E-CEEE7BA07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Readings</a:t>
            </a:r>
          </a:p>
          <a:p>
            <a:pPr lvl="1"/>
            <a:r>
              <a:rPr lang="en-US" dirty="0"/>
              <a:t>Microsoft: </a:t>
            </a:r>
            <a:r>
              <a:rPr lang="en-US" dirty="0">
                <a:hlinkClick r:id="rId2"/>
              </a:rPr>
              <a:t>https://azure.microsoft.com/en-us/</a:t>
            </a:r>
            <a:endParaRPr lang="en-US" dirty="0"/>
          </a:p>
          <a:p>
            <a:pPr lvl="1"/>
            <a:r>
              <a:rPr lang="en-US" dirty="0"/>
              <a:t>Acronis: </a:t>
            </a:r>
            <a:r>
              <a:rPr lang="en-US" dirty="0">
                <a:hlinkClick r:id="rId3"/>
              </a:rPr>
              <a:t>https://www.acronis.com/en-us/articles/what-is-microsoft-azure/</a:t>
            </a:r>
            <a:endParaRPr lang="en-US" dirty="0"/>
          </a:p>
          <a:p>
            <a:pPr lvl="1"/>
            <a:r>
              <a:rPr lang="en-US" dirty="0"/>
              <a:t>How-To Geek: </a:t>
            </a:r>
            <a:r>
              <a:rPr lang="en-US" dirty="0">
                <a:hlinkClick r:id="rId4"/>
              </a:rPr>
              <a:t>https://www.howtogeek.com/337961/what-is-microsoft-azure/</a:t>
            </a:r>
            <a:endParaRPr lang="en-US" dirty="0"/>
          </a:p>
          <a:p>
            <a:r>
              <a:rPr lang="en-US" dirty="0"/>
              <a:t>Sign up using your DMACC email address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Will get $100 credit</a:t>
            </a:r>
          </a:p>
          <a:p>
            <a:r>
              <a:rPr lang="en-US" dirty="0"/>
              <a:t>Portal: </a:t>
            </a:r>
            <a:r>
              <a:rPr lang="en-US" dirty="0">
                <a:hlinkClick r:id="rId5"/>
              </a:rPr>
              <a:t>https://portal.azure.com/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859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91F0B-6932-48FD-B35A-4CC19B534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 Account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622C8-3193-46B6-AD8A-6FF9FB767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Free Student Account: </a:t>
            </a:r>
            <a:r>
              <a:rPr lang="en-US" dirty="0">
                <a:hlinkClick r:id="rId2"/>
              </a:rPr>
              <a:t>https://azure.microsoft.com/en-us/free/students/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C9DD90-3438-432A-B01B-4B1606ED4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8925" y="2738438"/>
            <a:ext cx="65341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533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555A6-999D-4404-B8FF-C9994AE66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Azure: Creating a new App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B5A5B-CFA7-4DD5-8EBD-564E495BF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resource</a:t>
            </a:r>
          </a:p>
          <a:p>
            <a:r>
              <a:rPr lang="en-US" dirty="0"/>
              <a:t>Web App -&gt; Create</a:t>
            </a:r>
          </a:p>
          <a:p>
            <a:r>
              <a:rPr lang="en-US" dirty="0"/>
              <a:t>Create new Resource Group named ‘cis174dmacc’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A00E44-681A-492A-B165-C119B8826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1242" y="845766"/>
            <a:ext cx="1885950" cy="1638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6FCCBA-AE13-46D3-9FFA-F7BCB91CB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9267" y="2964707"/>
            <a:ext cx="2447925" cy="10572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934276-BFD4-47D5-B09D-FC9CF816E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269" y="3544495"/>
            <a:ext cx="4752975" cy="177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55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1F8D6-4223-4D30-8D7C-81083CB5F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Azure: Create 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A600B-C991-4569-A59B-58BBC921F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Name: Something unique (</a:t>
            </a:r>
            <a:r>
              <a:rPr lang="en-US" dirty="0" err="1"/>
              <a:t>emhennis</a:t>
            </a:r>
            <a:r>
              <a:rPr lang="en-US" dirty="0"/>
              <a:t>)</a:t>
            </a:r>
          </a:p>
          <a:p>
            <a:r>
              <a:rPr lang="en-US" dirty="0"/>
              <a:t>Runtime Stack: .NET 6 (or 7 or 8)</a:t>
            </a:r>
          </a:p>
          <a:p>
            <a:r>
              <a:rPr lang="en-US" dirty="0"/>
              <a:t>Operating System: Windows</a:t>
            </a:r>
          </a:p>
          <a:p>
            <a:r>
              <a:rPr lang="en-US" dirty="0"/>
              <a:t>Region: Central US</a:t>
            </a:r>
          </a:p>
          <a:p>
            <a:r>
              <a:rPr lang="en-US" dirty="0"/>
              <a:t>Windows Plan: [Default]</a:t>
            </a:r>
          </a:p>
          <a:p>
            <a:r>
              <a:rPr lang="en-US" dirty="0" err="1"/>
              <a:t>Sku</a:t>
            </a:r>
            <a:r>
              <a:rPr lang="en-US" dirty="0"/>
              <a:t> and size: Free F1 (Can do bigger but $$)</a:t>
            </a:r>
          </a:p>
          <a:p>
            <a:r>
              <a:rPr lang="en-US" dirty="0"/>
              <a:t>Review + create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890D33-6A4E-4922-9DDF-58BFDE43B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72" y="502596"/>
            <a:ext cx="5294155" cy="3621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68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27A12-46CA-4B9D-8970-AB1F293CA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 from Visual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D3831-88DF-4925-B1E4-D5FF3915B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project (or use an existing one)</a:t>
            </a:r>
          </a:p>
          <a:p>
            <a:r>
              <a:rPr lang="en-US" dirty="0"/>
              <a:t>Right click on the project and select publish</a:t>
            </a:r>
          </a:p>
          <a:p>
            <a:r>
              <a:rPr lang="en-US" dirty="0"/>
              <a:t>Target: Azure</a:t>
            </a:r>
          </a:p>
          <a:p>
            <a:r>
              <a:rPr lang="en-US" dirty="0"/>
              <a:t>Specific Target: Azure App Service (Windows)</a:t>
            </a:r>
          </a:p>
          <a:p>
            <a:r>
              <a:rPr lang="en-US" dirty="0"/>
              <a:t>Select your created Azure Web App</a:t>
            </a:r>
          </a:p>
          <a:p>
            <a:r>
              <a:rPr lang="en-US" dirty="0"/>
              <a:t>Deployment Type: Publish (generates </a:t>
            </a:r>
            <a:r>
              <a:rPr lang="en-US" dirty="0" err="1"/>
              <a:t>pubxml</a:t>
            </a:r>
            <a:r>
              <a:rPr lang="en-US" dirty="0"/>
              <a:t> file)</a:t>
            </a:r>
          </a:p>
          <a:p>
            <a:r>
              <a:rPr lang="en-US" dirty="0"/>
              <a:t>Hit ‘Publish’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419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33C2B-9C4A-43FE-A20E-C23770C7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Studio Publish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EB1EB-4848-4BA6-8F7C-B74EF27AF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710" y="1271571"/>
            <a:ext cx="7677150" cy="538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842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1A37A-292B-4C16-BC07-50885050E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Framework (EF) Core (Mod 2 Topic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9A2E5-CFD4-459C-90EB-841A941EB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EF YouTube Videos</a:t>
            </a:r>
          </a:p>
          <a:p>
            <a:pPr lvl="1"/>
            <a:r>
              <a:rPr lang="en-US" dirty="0"/>
              <a:t>http://www.youtube.com/watch?v=PpqdsJDvcxY</a:t>
            </a:r>
          </a:p>
          <a:p>
            <a:pPr lvl="1"/>
            <a:r>
              <a:rPr lang="en-US" dirty="0"/>
              <a:t>http://www.youtube.com/watch?v=-sftSA9_X-k</a:t>
            </a:r>
          </a:p>
          <a:p>
            <a:pPr lvl="1"/>
            <a:r>
              <a:rPr lang="en-US" dirty="0"/>
              <a:t>http://www.youtube.com/watch?v=-FCzoUL47ds</a:t>
            </a:r>
          </a:p>
          <a:p>
            <a:pPr lvl="1"/>
            <a:r>
              <a:rPr lang="en-US" dirty="0"/>
              <a:t>http://www.youtube.com/watch?v=gV_XvdgYwyU</a:t>
            </a:r>
          </a:p>
          <a:p>
            <a:pPr lvl="1"/>
            <a:r>
              <a:rPr lang="en-US" dirty="0"/>
              <a:t>http://www.youtube.com/watch?v=G1Ip4pNbpcE</a:t>
            </a:r>
          </a:p>
        </p:txBody>
      </p:sp>
    </p:spTree>
    <p:extLst>
      <p:ext uri="{BB962C8B-B14F-4D97-AF65-F5344CB8AC3E}">
        <p14:creationId xmlns:p14="http://schemas.microsoft.com/office/powerpoint/2010/main" val="1568789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CAFC0-4AE5-41E0-ACF7-C0D84855D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 Core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E347C-0B45-4820-9DB0-E88A8A5C2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Tools -&gt; </a:t>
            </a:r>
            <a:r>
              <a:rPr lang="en-US" dirty="0" err="1"/>
              <a:t>Nuget</a:t>
            </a:r>
            <a:r>
              <a:rPr lang="en-US" dirty="0"/>
              <a:t> Package Manager -&gt; Manage NuGet Packages</a:t>
            </a:r>
          </a:p>
          <a:p>
            <a:pPr lvl="1"/>
            <a:r>
              <a:rPr lang="en-US" dirty="0"/>
              <a:t>Or Right click on Dependencies -&gt; Manage NuGet Packages</a:t>
            </a:r>
          </a:p>
          <a:p>
            <a:r>
              <a:rPr lang="en-US" dirty="0"/>
              <a:t>Browse -&gt; ‘</a:t>
            </a:r>
            <a:r>
              <a:rPr lang="en-US" dirty="0" err="1"/>
              <a:t>Microsoft.EntityFrameworkCore.SqlServer</a:t>
            </a:r>
            <a:r>
              <a:rPr lang="en-US" dirty="0"/>
              <a:t>’</a:t>
            </a:r>
          </a:p>
          <a:p>
            <a:pPr lvl="1"/>
            <a:r>
              <a:rPr lang="en-US" dirty="0"/>
              <a:t>Make sure you include ‘.</a:t>
            </a:r>
            <a:r>
              <a:rPr lang="en-US" dirty="0" err="1"/>
              <a:t>SqlServer</a:t>
            </a:r>
            <a:r>
              <a:rPr lang="en-US" dirty="0"/>
              <a:t>’</a:t>
            </a:r>
          </a:p>
          <a:p>
            <a:r>
              <a:rPr lang="en-US" dirty="0"/>
              <a:t>Install</a:t>
            </a:r>
          </a:p>
          <a:p>
            <a:pPr lvl="1"/>
            <a:r>
              <a:rPr lang="en-US" dirty="0"/>
              <a:t>VS2022 .NET 8.0: 8.0.3</a:t>
            </a:r>
          </a:p>
          <a:p>
            <a:r>
              <a:rPr lang="en-US" dirty="0"/>
              <a:t>Accept License</a:t>
            </a:r>
          </a:p>
          <a:p>
            <a:r>
              <a:rPr lang="en-US" dirty="0"/>
              <a:t>Browse -&gt; ‘</a:t>
            </a:r>
            <a:r>
              <a:rPr lang="en-US" dirty="0" err="1"/>
              <a:t>Microsoft.EntityFrameworkCore.Tools</a:t>
            </a:r>
            <a:r>
              <a:rPr lang="en-US" dirty="0"/>
              <a:t>’</a:t>
            </a:r>
          </a:p>
          <a:p>
            <a:pPr lvl="1"/>
            <a:r>
              <a:rPr lang="en-US" dirty="0"/>
              <a:t>VS2022 .NET 8.0</a:t>
            </a:r>
            <a:r>
              <a:rPr lang="en-US"/>
              <a:t>: 8.0.3</a:t>
            </a:r>
            <a:endParaRPr lang="en-US" dirty="0"/>
          </a:p>
          <a:p>
            <a:r>
              <a:rPr lang="en-US" dirty="0"/>
              <a:t>Accept License</a:t>
            </a:r>
          </a:p>
        </p:txBody>
      </p:sp>
    </p:spTree>
    <p:extLst>
      <p:ext uri="{BB962C8B-B14F-4D97-AF65-F5344CB8AC3E}">
        <p14:creationId xmlns:p14="http://schemas.microsoft.com/office/powerpoint/2010/main" val="3046230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48114-E37C-48C9-AB28-234C79E45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 Database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16192-711B-4C91-9CD6-325BFB42F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: The primary class for communicating with a database</a:t>
            </a:r>
          </a:p>
          <a:p>
            <a:r>
              <a:rPr lang="en-US" dirty="0" err="1"/>
              <a:t>DbContextOptions</a:t>
            </a:r>
            <a:r>
              <a:rPr lang="en-US" dirty="0"/>
              <a:t>: Stores configuration options for </a:t>
            </a:r>
            <a:r>
              <a:rPr lang="en-US" dirty="0" err="1"/>
              <a:t>DbContext</a:t>
            </a:r>
            <a:endParaRPr lang="en-US" dirty="0"/>
          </a:p>
          <a:p>
            <a:r>
              <a:rPr lang="en-US" dirty="0" err="1"/>
              <a:t>DbSet</a:t>
            </a:r>
            <a:r>
              <a:rPr lang="en-US" dirty="0"/>
              <a:t>&lt;Entity&gt;: A collection of objects created from the specified entity</a:t>
            </a:r>
          </a:p>
        </p:txBody>
      </p:sp>
    </p:spTree>
    <p:extLst>
      <p:ext uri="{BB962C8B-B14F-4D97-AF65-F5344CB8AC3E}">
        <p14:creationId xmlns:p14="http://schemas.microsoft.com/office/powerpoint/2010/main" val="3138785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37868-04DD-4C7F-A18D-F2B982DA5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EF: </a:t>
            </a:r>
            <a:r>
              <a:rPr lang="en-US" dirty="0" err="1"/>
              <a:t>DbContext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66D5A-6100-4BD9-B11A-F21ECC63D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Primary class for communicating with the database</a:t>
            </a:r>
          </a:p>
          <a:p>
            <a:r>
              <a:rPr lang="en-US" dirty="0"/>
              <a:t>Uses your existing Models</a:t>
            </a:r>
          </a:p>
          <a:p>
            <a:r>
              <a:rPr lang="en-US" dirty="0" err="1"/>
              <a:t>DbSet</a:t>
            </a:r>
            <a:r>
              <a:rPr lang="en-US" dirty="0"/>
              <a:t>&lt;Model&gt; represents a table in the database</a:t>
            </a:r>
          </a:p>
          <a:p>
            <a:r>
              <a:rPr lang="en-US" dirty="0"/>
              <a:t>Can use </a:t>
            </a:r>
            <a:r>
              <a:rPr lang="en-US" dirty="0" err="1"/>
              <a:t>Linq</a:t>
            </a:r>
            <a:r>
              <a:rPr lang="en-US" dirty="0"/>
              <a:t> to query/access the database table</a:t>
            </a:r>
          </a:p>
          <a:p>
            <a:r>
              <a:rPr lang="en-US" dirty="0" err="1"/>
              <a:t>OnModelCreating</a:t>
            </a:r>
            <a:r>
              <a:rPr lang="en-US" dirty="0"/>
              <a:t>(</a:t>
            </a:r>
            <a:r>
              <a:rPr lang="en-US" dirty="0" err="1"/>
              <a:t>ModelBuilder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Called by the framework when context is created</a:t>
            </a:r>
          </a:p>
          <a:p>
            <a:pPr lvl="1"/>
            <a:r>
              <a:rPr lang="en-US" dirty="0"/>
              <a:t>Use “</a:t>
            </a:r>
            <a:r>
              <a:rPr lang="en-US" dirty="0" err="1"/>
              <a:t>HasData</a:t>
            </a:r>
            <a:r>
              <a:rPr lang="en-US" dirty="0"/>
              <a:t>” to seed data</a:t>
            </a:r>
          </a:p>
          <a:p>
            <a:r>
              <a:rPr lang="en-US"/>
              <a:t>Program.</a:t>
            </a:r>
            <a:r>
              <a:rPr lang="en-US" dirty="0" err="1"/>
              <a:t>cs</a:t>
            </a:r>
            <a:r>
              <a:rPr lang="en-US" dirty="0"/>
              <a:t>: Add DI object to create the </a:t>
            </a:r>
            <a:r>
              <a:rPr lang="en-US" dirty="0" err="1"/>
              <a:t>DbContext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629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CEA55-8952-4BF3-BB2A-9439EAC28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EF: Database Migrations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70569-3588-4B9E-B612-7C969DFFB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Package Manager Console</a:t>
            </a:r>
          </a:p>
          <a:p>
            <a:pPr lvl="1"/>
            <a:r>
              <a:rPr lang="en-US" dirty="0"/>
              <a:t>Tools -&gt; </a:t>
            </a:r>
            <a:r>
              <a:rPr lang="en-US" dirty="0" err="1"/>
              <a:t>NuGetPackage</a:t>
            </a:r>
            <a:r>
              <a:rPr lang="en-US" dirty="0"/>
              <a:t> Manager -&gt; Package Manager Console</a:t>
            </a:r>
          </a:p>
          <a:p>
            <a:r>
              <a:rPr lang="en-US" dirty="0"/>
              <a:t>Up(): Upgrades your database</a:t>
            </a:r>
          </a:p>
          <a:p>
            <a:r>
              <a:rPr lang="en-US" dirty="0"/>
              <a:t>Down(): Downgrades your database</a:t>
            </a:r>
          </a:p>
          <a:p>
            <a:r>
              <a:rPr lang="en-US" dirty="0"/>
              <a:t>Add-Migration Initial</a:t>
            </a:r>
          </a:p>
          <a:p>
            <a:pPr lvl="1"/>
            <a:r>
              <a:rPr lang="en-US" dirty="0"/>
              <a:t>Creates your initial database snapshot</a:t>
            </a:r>
          </a:p>
          <a:p>
            <a:pPr lvl="1"/>
            <a:r>
              <a:rPr lang="en-US" dirty="0"/>
              <a:t>Creates </a:t>
            </a:r>
            <a:r>
              <a:rPr lang="en-US" dirty="0" err="1"/>
              <a:t>MovieContextModelSnapshot.cs</a:t>
            </a:r>
            <a:endParaRPr lang="en-US" dirty="0"/>
          </a:p>
          <a:p>
            <a:pPr lvl="1"/>
            <a:r>
              <a:rPr lang="en-US" dirty="0"/>
              <a:t>Can only have one</a:t>
            </a:r>
          </a:p>
          <a:p>
            <a:r>
              <a:rPr lang="en-US" dirty="0"/>
              <a:t>Update-Database</a:t>
            </a:r>
          </a:p>
          <a:p>
            <a:pPr lvl="1"/>
            <a:r>
              <a:rPr lang="en-US" dirty="0"/>
              <a:t>Uses your models to create actual SQL tables</a:t>
            </a:r>
          </a:p>
          <a:p>
            <a:r>
              <a:rPr lang="en-US" dirty="0"/>
              <a:t>__</a:t>
            </a:r>
            <a:r>
              <a:rPr lang="en-US" dirty="0" err="1"/>
              <a:t>EFMigrationsHistory</a:t>
            </a:r>
            <a:r>
              <a:rPr lang="en-US" dirty="0"/>
              <a:t> table shows migration history</a:t>
            </a:r>
          </a:p>
        </p:txBody>
      </p:sp>
    </p:spTree>
    <p:extLst>
      <p:ext uri="{BB962C8B-B14F-4D97-AF65-F5344CB8AC3E}">
        <p14:creationId xmlns:p14="http://schemas.microsoft.com/office/powerpoint/2010/main" val="24328421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0472B-6C7D-41F9-9978-A6483EEBD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EF: </a:t>
            </a:r>
            <a:r>
              <a:rPr lang="en-US" dirty="0" err="1"/>
              <a:t>Linq</a:t>
            </a:r>
            <a:r>
              <a:rPr lang="en-US" dirty="0"/>
              <a:t>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30E79-CA05-4FFF-86B8-B360E2376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Language-Integrated Query</a:t>
            </a:r>
          </a:p>
          <a:p>
            <a:r>
              <a:rPr lang="en-US" dirty="0"/>
              <a:t>Where(lambda expression): Filters the entities</a:t>
            </a:r>
          </a:p>
          <a:p>
            <a:r>
              <a:rPr lang="en-US" dirty="0" err="1"/>
              <a:t>OrderBy</a:t>
            </a:r>
            <a:r>
              <a:rPr lang="en-US" dirty="0"/>
              <a:t>(lambda expression): Orders the entities</a:t>
            </a:r>
          </a:p>
          <a:p>
            <a:r>
              <a:rPr lang="en-US" dirty="0" err="1"/>
              <a:t>FirstOrDefault</a:t>
            </a:r>
            <a:r>
              <a:rPr lang="en-US" dirty="0"/>
              <a:t>(lambda express): Returns the first element or null</a:t>
            </a:r>
          </a:p>
          <a:p>
            <a:r>
              <a:rPr lang="en-US" dirty="0" err="1"/>
              <a:t>ToList</a:t>
            </a:r>
            <a:r>
              <a:rPr lang="en-US" dirty="0"/>
              <a:t>(): Converts the results to a list</a:t>
            </a:r>
          </a:p>
          <a:p>
            <a:pPr lvl="1"/>
            <a:r>
              <a:rPr lang="en-US" dirty="0"/>
              <a:t>Executes the command at this point</a:t>
            </a:r>
          </a:p>
          <a:p>
            <a:r>
              <a:rPr lang="en-US" dirty="0"/>
              <a:t>Find(id): Finds the first element or null</a:t>
            </a:r>
          </a:p>
          <a:p>
            <a:pPr lvl="1"/>
            <a:r>
              <a:rPr lang="en-US" dirty="0"/>
              <a:t>Must be the primary key of the entity</a:t>
            </a:r>
          </a:p>
        </p:txBody>
      </p:sp>
    </p:spTree>
    <p:extLst>
      <p:ext uri="{BB962C8B-B14F-4D97-AF65-F5344CB8AC3E}">
        <p14:creationId xmlns:p14="http://schemas.microsoft.com/office/powerpoint/2010/main" val="2782259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F6DEB-7439-4417-BB0D-0731498F9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EF: </a:t>
            </a:r>
            <a:r>
              <a:rPr lang="en-US" dirty="0" err="1"/>
              <a:t>Linq</a:t>
            </a:r>
            <a:r>
              <a:rPr lang="en-US" dirty="0"/>
              <a:t> Commands </a:t>
            </a:r>
            <a:r>
              <a:rPr lang="en-US" dirty="0" err="1"/>
              <a:t>cont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87D36-9D4D-4598-B963-5A99CA6DF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IQueryable</a:t>
            </a:r>
            <a:r>
              <a:rPr lang="en-US" dirty="0"/>
              <a:t> is the query expression</a:t>
            </a:r>
          </a:p>
          <a:p>
            <a:pPr lvl="1"/>
            <a:r>
              <a:rPr lang="en-US" dirty="0" err="1"/>
              <a:t>IQueryable</a:t>
            </a:r>
            <a:r>
              <a:rPr lang="en-US" dirty="0"/>
              <a:t> stay as an expression until they are executed</a:t>
            </a:r>
          </a:p>
          <a:p>
            <a:pPr lvl="1"/>
            <a:r>
              <a:rPr lang="en-US" dirty="0" err="1"/>
              <a:t>IQueryable</a:t>
            </a:r>
            <a:r>
              <a:rPr lang="en-US" dirty="0"/>
              <a:t>&lt;Movie&gt; query = </a:t>
            </a:r>
            <a:r>
              <a:rPr lang="en-US" dirty="0" err="1"/>
              <a:t>context.Movies.OrderBy</a:t>
            </a:r>
            <a:r>
              <a:rPr lang="en-US" dirty="0"/>
              <a:t>(m =&gt; </a:t>
            </a:r>
            <a:r>
              <a:rPr lang="en-US" dirty="0" err="1"/>
              <a:t>m.Name</a:t>
            </a:r>
            <a:r>
              <a:rPr lang="en-US" dirty="0"/>
              <a:t>);</a:t>
            </a:r>
          </a:p>
          <a:p>
            <a:r>
              <a:rPr lang="en-US" dirty="0"/>
              <a:t>Execute a query express</a:t>
            </a:r>
          </a:p>
          <a:p>
            <a:pPr lvl="1"/>
            <a:r>
              <a:rPr lang="en-US" dirty="0" err="1"/>
              <a:t>query.ToList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Find(id)</a:t>
            </a:r>
          </a:p>
        </p:txBody>
      </p:sp>
    </p:spTree>
    <p:extLst>
      <p:ext uri="{BB962C8B-B14F-4D97-AF65-F5344CB8AC3E}">
        <p14:creationId xmlns:p14="http://schemas.microsoft.com/office/powerpoint/2010/main" val="285075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2E3C9-AF7A-469C-B58F-CA75462ED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EF: Insert, Update, and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17128-02F4-4437-82E8-DBDE7E11E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Add(entity): Adds the entity to the database</a:t>
            </a:r>
          </a:p>
          <a:p>
            <a:r>
              <a:rPr lang="en-US" dirty="0"/>
              <a:t>Update(entity): Updates any changed data on the entity</a:t>
            </a:r>
          </a:p>
          <a:p>
            <a:r>
              <a:rPr lang="en-US" dirty="0"/>
              <a:t>Remove(entity): Delete the entity in the </a:t>
            </a:r>
            <a:r>
              <a:rPr lang="en-US" dirty="0" err="1"/>
              <a:t>databse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2292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A04F0-DC74-45BB-95FA-C44139AA3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EF: Related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393A1-5811-4864-B0D3-AF6BF26D2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new model</a:t>
            </a:r>
          </a:p>
          <a:p>
            <a:r>
              <a:rPr lang="en-US" dirty="0"/>
              <a:t>Create reference on existing model</a:t>
            </a:r>
          </a:p>
          <a:p>
            <a:r>
              <a:rPr lang="en-US" dirty="0"/>
              <a:t>Add new model, relational data, and seed data to </a:t>
            </a:r>
            <a:r>
              <a:rPr lang="en-US" dirty="0" err="1"/>
              <a:t>DbContext</a:t>
            </a:r>
            <a:endParaRPr lang="en-US" dirty="0"/>
          </a:p>
          <a:p>
            <a:r>
              <a:rPr lang="en-US" dirty="0"/>
              <a:t>Create migration</a:t>
            </a:r>
          </a:p>
          <a:p>
            <a:pPr lvl="1"/>
            <a:r>
              <a:rPr lang="en-US" dirty="0"/>
              <a:t>Add-Migration Genre</a:t>
            </a:r>
          </a:p>
          <a:p>
            <a:pPr lvl="1"/>
            <a:r>
              <a:rPr lang="en-US" dirty="0"/>
              <a:t>Update-Database</a:t>
            </a:r>
          </a:p>
        </p:txBody>
      </p:sp>
    </p:spTree>
    <p:extLst>
      <p:ext uri="{BB962C8B-B14F-4D97-AF65-F5344CB8AC3E}">
        <p14:creationId xmlns:p14="http://schemas.microsoft.com/office/powerpoint/2010/main" val="4137718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7E611-A739-49FC-B7D2-D7E99E33C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EF: User Friendly URLs and Slugs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558CE-C461-42C5-9386-98708C221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friendly URLs</a:t>
            </a:r>
          </a:p>
          <a:p>
            <a:pPr lvl="1"/>
            <a:r>
              <a:rPr lang="en-US" dirty="0"/>
              <a:t>Set lowercase URLs and trailing slash in </a:t>
            </a:r>
            <a:r>
              <a:rPr lang="en-US" dirty="0" err="1"/>
              <a:t>Startup.ConfigureServices</a:t>
            </a:r>
            <a:endParaRPr lang="en-US" dirty="0"/>
          </a:p>
          <a:p>
            <a:r>
              <a:rPr lang="en-US" dirty="0"/>
              <a:t>Slugs</a:t>
            </a:r>
          </a:p>
          <a:p>
            <a:pPr lvl="1"/>
            <a:r>
              <a:rPr lang="en-US" dirty="0"/>
              <a:t>Add {slug?} to the </a:t>
            </a:r>
            <a:r>
              <a:rPr lang="en-US" dirty="0" err="1"/>
              <a:t>MapControllerRoute.pattern</a:t>
            </a:r>
            <a:r>
              <a:rPr lang="en-US" dirty="0"/>
              <a:t> in Startup</a:t>
            </a:r>
          </a:p>
          <a:p>
            <a:pPr lvl="1"/>
            <a:r>
              <a:rPr lang="en-US" dirty="0"/>
              <a:t>Add </a:t>
            </a:r>
            <a:r>
              <a:rPr lang="en-US" dirty="0" err="1"/>
              <a:t>readonly</a:t>
            </a:r>
            <a:r>
              <a:rPr lang="en-US" dirty="0"/>
              <a:t> Slug property to ‘Movie’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390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98AE2-17D8-4D4F-A388-35A8905D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 Database (Mod 2 Topic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D68F3-2057-4682-90E3-73E91BBD0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Watch the video in Topic 2 titled ‘Azure SQL Database’</a:t>
            </a:r>
          </a:p>
          <a:p>
            <a:pPr lvl="1"/>
            <a:r>
              <a:rPr lang="en-US" dirty="0"/>
              <a:t>The version are different but the process is similar</a:t>
            </a:r>
          </a:p>
          <a:p>
            <a:r>
              <a:rPr lang="en-US" dirty="0"/>
              <a:t>This is for the final project</a:t>
            </a:r>
          </a:p>
          <a:p>
            <a:r>
              <a:rPr lang="en-US" dirty="0"/>
              <a:t>You can use your local SQL Express for any assignment that IS NOT deployed to Azure</a:t>
            </a:r>
          </a:p>
        </p:txBody>
      </p:sp>
    </p:spTree>
    <p:extLst>
      <p:ext uri="{BB962C8B-B14F-4D97-AF65-F5344CB8AC3E}">
        <p14:creationId xmlns:p14="http://schemas.microsoft.com/office/powerpoint/2010/main" val="413458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86D1D-D268-4879-99FE-53CCC019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Multi-Page Web App w/DB (Mod 2 Topic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C849F-22A3-4633-A01C-95E136E25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multi-page app with:</a:t>
            </a:r>
          </a:p>
          <a:p>
            <a:pPr lvl="1"/>
            <a:r>
              <a:rPr lang="en-US" dirty="0"/>
              <a:t>A working database</a:t>
            </a:r>
          </a:p>
          <a:p>
            <a:pPr lvl="1"/>
            <a:r>
              <a:rPr lang="en-US" dirty="0"/>
              <a:t>Pages that:</a:t>
            </a:r>
          </a:p>
          <a:p>
            <a:pPr lvl="2"/>
            <a:r>
              <a:rPr lang="en-US" dirty="0"/>
              <a:t>List Contacts</a:t>
            </a:r>
          </a:p>
          <a:p>
            <a:pPr lvl="2"/>
            <a:r>
              <a:rPr lang="en-US" dirty="0"/>
              <a:t>Add Contact</a:t>
            </a:r>
          </a:p>
          <a:p>
            <a:pPr lvl="2"/>
            <a:r>
              <a:rPr lang="en-US" dirty="0"/>
              <a:t>Delete Contact</a:t>
            </a:r>
          </a:p>
          <a:p>
            <a:pPr lvl="1"/>
            <a:r>
              <a:rPr lang="en-US" dirty="0"/>
              <a:t>Deployed to Azure</a:t>
            </a:r>
          </a:p>
          <a:p>
            <a:pPr lvl="2"/>
            <a:r>
              <a:rPr lang="en-US" dirty="0"/>
              <a:t>You will need to make a new web page for this</a:t>
            </a:r>
          </a:p>
          <a:p>
            <a:pPr lvl="2"/>
            <a:r>
              <a:rPr lang="en-US" dirty="0"/>
              <a:t>Can use the existing resource</a:t>
            </a:r>
          </a:p>
        </p:txBody>
      </p:sp>
    </p:spTree>
    <p:extLst>
      <p:ext uri="{BB962C8B-B14F-4D97-AF65-F5344CB8AC3E}">
        <p14:creationId xmlns:p14="http://schemas.microsoft.com/office/powerpoint/2010/main" val="13200964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599F-4DAA-476E-BF5F-65C07275A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Project (Mod 2 Topic 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0AEA6-84AC-42BB-BCF0-AA112F5A2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Final project will include all of the topics covered in this class</a:t>
            </a:r>
          </a:p>
          <a:p>
            <a:r>
              <a:rPr lang="en-US" dirty="0"/>
              <a:t>Submit 3 potential </a:t>
            </a:r>
            <a:r>
              <a:rPr lang="en-US"/>
              <a:t>final projects</a:t>
            </a:r>
          </a:p>
        </p:txBody>
      </p:sp>
    </p:spTree>
    <p:extLst>
      <p:ext uri="{BB962C8B-B14F-4D97-AF65-F5344CB8AC3E}">
        <p14:creationId xmlns:p14="http://schemas.microsoft.com/office/powerpoint/2010/main" val="769933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1450</TotalTime>
  <Words>950</Words>
  <Application>Microsoft Office PowerPoint</Application>
  <PresentationFormat>Widescreen</PresentationFormat>
  <Paragraphs>140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CIS 174: Advanced C# Programming</vt:lpstr>
      <vt:lpstr>Assignments (Module 2)</vt:lpstr>
      <vt:lpstr>Topics (Module 2)</vt:lpstr>
      <vt:lpstr>Azure (Mod 2 Topic 1)</vt:lpstr>
      <vt:lpstr>Azure Account Creation</vt:lpstr>
      <vt:lpstr>Azure: Creating a new App Service</vt:lpstr>
      <vt:lpstr>Azure: Create Web App</vt:lpstr>
      <vt:lpstr>Deploy from Visual Studio</vt:lpstr>
      <vt:lpstr>Visual Studio Publish</vt:lpstr>
      <vt:lpstr>Entity Framework (EF) Core (Mod 2 Topic 2)</vt:lpstr>
      <vt:lpstr>EF Core Install</vt:lpstr>
      <vt:lpstr>EF Database Classes</vt:lpstr>
      <vt:lpstr>EF: DbContext</vt:lpstr>
      <vt:lpstr>EF: Database Migrations</vt:lpstr>
      <vt:lpstr>EF: Linq Commands</vt:lpstr>
      <vt:lpstr>EF: Linq Commands cont</vt:lpstr>
      <vt:lpstr>EF: Insert, Update, and Delete</vt:lpstr>
      <vt:lpstr>EF: Related Data</vt:lpstr>
      <vt:lpstr>EF: User Friendly URLs and Slugs</vt:lpstr>
      <vt:lpstr>Azure Database (Mod 2 Topic 2)</vt:lpstr>
      <vt:lpstr>Multi-Page Web App w/DB (Mod 2 Topic 3)</vt:lpstr>
      <vt:lpstr>Final Project (Mod 2 Topic 4)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CIS 174: Advanced C# Programming</dc:title>
  <dc:creator>Evan Hennis</dc:creator>
  <cp:lastModifiedBy>Evan Hennis</cp:lastModifiedBy>
  <cp:revision>38</cp:revision>
  <dcterms:created xsi:type="dcterms:W3CDTF">2022-01-06T22:31:07Z</dcterms:created>
  <dcterms:modified xsi:type="dcterms:W3CDTF">2026-09-02T22:43:43Z</dcterms:modified>
</cp:coreProperties>
</file>